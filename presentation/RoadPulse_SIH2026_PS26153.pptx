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>
                <a:solidFill>
                  <a:srgbClr val="1F3864"/>
                </a:solidFill>
              </a:rPr>
              <a:t>Early warning: attack within 5 min (CIC-IDS2017, blocked CV, n = 18,130)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AEGIS (ours)</c:v>
                </c:pt>
              </c:strCache>
            </c:strRef>
          </c:tx>
          <c:spPr>
            <a:solidFill>
              <a:srgbClr val="E87722"/>
            </a:solidFill>
          </c:spPr>
          <c:cat>
            <c:strRef>
              <c:f>Sheet1!$A$2:$A$5</c:f>
              <c:strCache>
                <c:ptCount val="4"/>
                <c:pt idx="0">
                  <c:v>AUROC</c:v>
                </c:pt>
                <c:pt idx="1">
                  <c:v>AUPRC</c:v>
                </c:pt>
                <c:pt idx="2">
                  <c:v>Precision</c:v>
                </c:pt>
                <c:pt idx="3">
                  <c:v>F0.5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0.878590815398369</c:v>
                </c:pt>
                <c:pt idx="1">
                  <c:v>0.43221706672371496</c:v>
                </c:pt>
                <c:pt idx="2">
                  <c:v>0.7395833333333334</c:v>
                </c:pt>
                <c:pt idx="3">
                  <c:v>0.5762987012987013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XGBoost</c:v>
                </c:pt>
              </c:strCache>
            </c:strRef>
          </c:tx>
          <c:spPr>
            <a:solidFill>
              <a:srgbClr val="8FAADC"/>
            </a:solidFill>
          </c:spPr>
          <c:cat>
            <c:strRef>
              <c:f>Sheet1!$A$2:$A$5</c:f>
              <c:strCache>
                <c:ptCount val="4"/>
                <c:pt idx="0">
                  <c:v>AUROC</c:v>
                </c:pt>
                <c:pt idx="1">
                  <c:v>AUPRC</c:v>
                </c:pt>
                <c:pt idx="2">
                  <c:v>Precision</c:v>
                </c:pt>
                <c:pt idx="3">
                  <c:v>F0.5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0.8662532889985439</c:v>
                </c:pt>
                <c:pt idx="1">
                  <c:v>0.3784425158569806</c:v>
                </c:pt>
                <c:pt idx="2">
                  <c:v>0.5560747663551402</c:v>
                </c:pt>
                <c:pt idx="3">
                  <c:v>0.45075757575757575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Markov chain</c:v>
                </c:pt>
              </c:strCache>
            </c:strRef>
          </c:tx>
          <c:spPr>
            <a:solidFill>
              <a:srgbClr val="BFBFBF"/>
            </a:solidFill>
          </c:spPr>
          <c:cat>
            <c:strRef>
              <c:f>Sheet1!$A$2:$A$5</c:f>
              <c:strCache>
                <c:ptCount val="4"/>
                <c:pt idx="0">
                  <c:v>AUROC</c:v>
                </c:pt>
                <c:pt idx="1">
                  <c:v>AUPRC</c:v>
                </c:pt>
                <c:pt idx="2">
                  <c:v>Precision</c:v>
                </c:pt>
                <c:pt idx="3">
                  <c:v>F0.5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0.7971495508613857</c:v>
                </c:pt>
                <c:pt idx="1">
                  <c:v>0.4214865117037356</c:v>
                </c:pt>
                <c:pt idx="2">
                  <c:v>0.6632653061224489</c:v>
                </c:pt>
                <c:pt idx="3">
                  <c:v>0.5208333333333334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solidFill>
                    <a:srgbClr val="1A1A1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595959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>
                <a:solidFill>
                  <a:srgbClr val="1F3864"/>
                </a:solidFill>
              </a:rPr>
              <a:t>More data → more trustworthy warnings (warning precision, 5-fold CV)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Trained on that dataset only</c:v>
                </c:pt>
              </c:strCache>
            </c:strRef>
          </c:tx>
          <c:spPr>
            <a:solidFill>
              <a:srgbClr val="8FAADC"/>
            </a:solidFill>
          </c:spPr>
          <c:cat>
            <c:strRef>
              <c:f>Sheet1!$A$2:$A$4</c:f>
              <c:strCache>
                <c:ptCount val="3"/>
                <c:pt idx="0">
                  <c:v>CIC-IDS2017</c:v>
                </c:pt>
                <c:pt idx="1">
                  <c:v>UNSW-NB15</c:v>
                </c:pt>
                <c:pt idx="2">
                  <c:v>CTU-13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0.673469387755102</c:v>
                </c:pt>
                <c:pt idx="1">
                  <c:v>0.997709049255441</c:v>
                </c:pt>
                <c:pt idx="2">
                  <c:v>0.5707196029776674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One model, all 3 datasets</c:v>
                </c:pt>
              </c:strCache>
            </c:strRef>
          </c:tx>
          <c:spPr>
            <a:solidFill>
              <a:srgbClr val="E87722"/>
            </a:solidFill>
          </c:spPr>
          <c:cat>
            <c:strRef>
              <c:f>Sheet1!$A$2:$A$4</c:f>
              <c:strCache>
                <c:ptCount val="3"/>
                <c:pt idx="0">
                  <c:v>CIC-IDS2017</c:v>
                </c:pt>
                <c:pt idx="1">
                  <c:v>UNSW-NB15</c:v>
                </c:pt>
                <c:pt idx="2">
                  <c:v>CTU-13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0.8066666666666666</c:v>
                </c:pt>
                <c:pt idx="1">
                  <c:v>0.9976894639556377</c:v>
                </c:pt>
                <c:pt idx="2">
                  <c:v>0.8403041825095057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800">
                  <a:solidFill>
                    <a:srgbClr val="1A1A1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  <c:majorUnit val="0.25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900">
          <a:solidFill>
            <a:srgbClr val="595959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640080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lang="en-US" sz="18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26153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lang="en-US" sz="18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AI based Network Attack Forecasting from Network Traffic Data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lang="en-US" sz="18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Blockchain &amp; Cybersecurity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  <a:r>
              <a:rPr lang="en-US" sz="18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Software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r>
              <a:rPr lang="en-US" sz="18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RoadPulse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0"/>
            <a:ext cx="8046720" cy="1143000"/>
          </a:xfrm>
        </p:spPr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AEGIS: Forecasting the Next Attack Stage</a:t>
            </a: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 wrap="none"/>
          <a:lstStyle/>
          <a:p>
            <a:pPr algn="ctr"/>
            <a:r>
              <a:rPr lang="en-US" dirty="0" b="1" sz="1100"/>
              <a:t>RoadPulse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365760" y="1115568"/>
            <a:ext cx="11430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70C0"/>
                </a:solidFill>
                <a:latin typeface="Arial"/>
              </a:rPr>
              <a:t>❖ </a:t>
            </a:r>
            <a:r>
              <a:rPr sz="1800" b="1" i="0" u="sng">
                <a:solidFill>
                  <a:srgbClr val="1F4E79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365760" y="15361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7722"/>
                </a:solidFill>
                <a:latin typeface="Arial"/>
              </a:rPr>
              <a:t>▸ </a:t>
            </a:r>
            <a:r>
              <a:rPr sz="1300" b="1" i="0">
                <a:solidFill>
                  <a:srgbClr val="1F3864"/>
                </a:solidFill>
                <a:latin typeface="Arial"/>
              </a:rPr>
              <a:t>Detailed explanation of the proposed solution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365760" y="1847088"/>
            <a:ext cx="2086660" cy="713232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  INGEST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Arial"/>
              </a:rPr>
              <a:t>PCAP · NetFlow · CIC CSV</a:t>
            </a:r>
          </a:p>
        </p:txBody>
      </p:sp>
      <p:cxnSp>
        <p:nvCxnSpPr>
          <p:cNvPr id="15365" name="Connector 15364"/>
          <p:cNvCxnSpPr/>
          <p:nvPr/>
        </p:nvCxnSpPr>
        <p:spPr>
          <a:xfrm>
            <a:off x="2479852" y="2203704"/>
            <a:ext cx="201168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6" name="Rounded Rectangle 15365"/>
          <p:cNvSpPr/>
          <p:nvPr/>
        </p:nvSpPr>
        <p:spPr>
          <a:xfrm>
            <a:off x="2708452" y="1847088"/>
            <a:ext cx="2086660" cy="713232"/>
          </a:xfrm>
          <a:prstGeom prst="roundRect">
            <a:avLst>
              <a:gd name="adj" fmla="val 12000"/>
            </a:avLst>
          </a:prstGeom>
          <a:solidFill>
            <a:srgbClr val="1F5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2  WINDOW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Arial"/>
              </a:rPr>
              <a:t>every host, every minute → 26-37 traffic features</a:t>
            </a:r>
          </a:p>
        </p:txBody>
      </p:sp>
      <p:cxnSp>
        <p:nvCxnSpPr>
          <p:cNvPr id="15367" name="Connector 15366"/>
          <p:cNvCxnSpPr/>
          <p:nvPr/>
        </p:nvCxnSpPr>
        <p:spPr>
          <a:xfrm>
            <a:off x="4822545" y="2203704"/>
            <a:ext cx="201168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8" name="Rounded Rectangle 15367"/>
          <p:cNvSpPr/>
          <p:nvPr/>
        </p:nvSpPr>
        <p:spPr>
          <a:xfrm>
            <a:off x="5051145" y="1847088"/>
            <a:ext cx="2086660" cy="713232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3  ENCODE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Arial"/>
              </a:rPr>
              <a:t>GRU world model, 5-seed ensemble</a:t>
            </a:r>
          </a:p>
        </p:txBody>
      </p:sp>
      <p:cxnSp>
        <p:nvCxnSpPr>
          <p:cNvPr id="15369" name="Connector 15368"/>
          <p:cNvCxnSpPr/>
          <p:nvPr/>
        </p:nvCxnSpPr>
        <p:spPr>
          <a:xfrm>
            <a:off x="7165238" y="2203704"/>
            <a:ext cx="201168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0" name="Rounded Rectangle 15369"/>
          <p:cNvSpPr/>
          <p:nvPr/>
        </p:nvSpPr>
        <p:spPr>
          <a:xfrm>
            <a:off x="7393838" y="1847088"/>
            <a:ext cx="2086660" cy="713232"/>
          </a:xfrm>
          <a:prstGeom prst="roundRect">
            <a:avLst>
              <a:gd name="adj" fmla="val 12000"/>
            </a:avLst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4  IMAGINE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Arial"/>
              </a:rPr>
              <a:t>512 simulated futures, +1…+10 min</a:t>
            </a:r>
          </a:p>
        </p:txBody>
      </p:sp>
      <p:cxnSp>
        <p:nvCxnSpPr>
          <p:cNvPr id="15371" name="Connector 15370"/>
          <p:cNvCxnSpPr/>
          <p:nvPr/>
        </p:nvCxnSpPr>
        <p:spPr>
          <a:xfrm>
            <a:off x="9507931" y="2203704"/>
            <a:ext cx="201168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2" name="Rounded Rectangle 15371"/>
          <p:cNvSpPr/>
          <p:nvPr/>
        </p:nvSpPr>
        <p:spPr>
          <a:xfrm>
            <a:off x="9736531" y="1847088"/>
            <a:ext cx="2086660" cy="713232"/>
          </a:xfrm>
          <a:prstGeom prst="roundRect">
            <a:avLst>
              <a:gd name="adj" fmla="val 12000"/>
            </a:avLst>
          </a:prstGeom>
          <a:solidFill>
            <a:srgbClr val="B85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5  ACT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Arial"/>
              </a:rPr>
              <a:t>attack probability · risk · why · audit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365760" y="27249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7722"/>
                </a:solidFill>
                <a:latin typeface="Arial"/>
              </a:rPr>
              <a:t>▸ </a:t>
            </a:r>
            <a:r>
              <a:rPr sz="1300" b="1" i="0">
                <a:solidFill>
                  <a:srgbClr val="1F3864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365760" y="3063240"/>
            <a:ext cx="731520" cy="502920"/>
          </a:xfrm>
          <a:prstGeom prst="roundRect">
            <a:avLst>
              <a:gd name="adj" fmla="val 20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Normal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1161288" y="3063240"/>
            <a:ext cx="731520" cy="502920"/>
          </a:xfrm>
          <a:prstGeom prst="roundRect">
            <a:avLst>
              <a:gd name="adj" fmla="val 20000"/>
            </a:avLst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Recon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1956816" y="3063240"/>
            <a:ext cx="731520" cy="502920"/>
          </a:xfrm>
          <a:prstGeom prst="roundRect">
            <a:avLst>
              <a:gd name="adj" fmla="val 20000"/>
            </a:avLst>
          </a:prstGeom>
          <a:solidFill>
            <a:srgbClr val="7F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Creds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2752344" y="3063240"/>
            <a:ext cx="731520" cy="502920"/>
          </a:xfrm>
          <a:prstGeom prst="roundRect">
            <a:avLst>
              <a:gd name="adj" fmla="val 20000"/>
            </a:avLst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Exploit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3547872" y="3063240"/>
            <a:ext cx="731520" cy="502920"/>
          </a:xfrm>
          <a:prstGeom prst="roundRect">
            <a:avLst>
              <a:gd name="adj" fmla="val 20000"/>
            </a:avLst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C2</a:t>
            </a:r>
          </a:p>
        </p:txBody>
      </p:sp>
      <p:sp>
        <p:nvSpPr>
          <p:cNvPr id="15379" name="Rounded Rectangle 15378"/>
          <p:cNvSpPr/>
          <p:nvPr/>
        </p:nvSpPr>
        <p:spPr>
          <a:xfrm>
            <a:off x="4343400" y="3063240"/>
            <a:ext cx="731520" cy="502920"/>
          </a:xfrm>
          <a:prstGeom prst="roundRect">
            <a:avLst>
              <a:gd name="adj" fmla="val 20000"/>
            </a:avLst>
          </a:prstGeom>
          <a:solidFill>
            <a:srgbClr val="D35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Infiltr.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5138928" y="3063240"/>
            <a:ext cx="731520" cy="502920"/>
          </a:xfrm>
          <a:prstGeom prst="roundRect">
            <a:avLst>
              <a:gd name="adj" fmla="val 2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Impact</a:t>
            </a:r>
          </a:p>
        </p:txBody>
      </p:sp>
      <p:sp>
        <p:nvSpPr>
          <p:cNvPr id="15381" name="TextBox 15380"/>
          <p:cNvSpPr txBox="1"/>
          <p:nvPr/>
        </p:nvSpPr>
        <p:spPr>
          <a:xfrm>
            <a:off x="365760" y="36118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Arial"/>
              </a:rPr>
              <a:t>7 attack stages (MITRE ATT&amp;CK tactics) per host, per minute</a:t>
            </a:r>
          </a:p>
        </p:txBody>
      </p:sp>
      <p:sp>
        <p:nvSpPr>
          <p:cNvPr id="15382" name="Rounded Rectangle 15381"/>
          <p:cNvSpPr/>
          <p:nvPr/>
        </p:nvSpPr>
        <p:spPr>
          <a:xfrm>
            <a:off x="365760" y="3931920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 i="0">
                <a:solidFill>
                  <a:srgbClr val="C0392B"/>
                </a:solidFill>
                <a:latin typeface="Arial"/>
              </a:rPr>
              <a:t>Today (IDS)</a:t>
            </a:r>
          </a:p>
        </p:txBody>
      </p:sp>
      <p:sp>
        <p:nvSpPr>
          <p:cNvPr id="15383" name="Rounded Rectangle 15382"/>
          <p:cNvSpPr/>
          <p:nvPr/>
        </p:nvSpPr>
        <p:spPr>
          <a:xfrm>
            <a:off x="1783080" y="3931920"/>
            <a:ext cx="4069080" cy="566928"/>
          </a:xfrm>
          <a:prstGeom prst="roundRect">
            <a:avLst>
              <a:gd name="adj" fmla="val 12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labels the CURRENT flow → alert only after the attack has started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365760" y="4572000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 i="0">
                <a:solidFill>
                  <a:srgbClr val="2E8B57"/>
                </a:solidFill>
                <a:latin typeface="Arial"/>
              </a:rPr>
              <a:t>AEGIS</a:t>
            </a:r>
          </a:p>
        </p:txBody>
      </p:sp>
      <p:sp>
        <p:nvSpPr>
          <p:cNvPr id="15385" name="Rounded Rectangle 15384"/>
          <p:cNvSpPr/>
          <p:nvPr/>
        </p:nvSpPr>
        <p:spPr>
          <a:xfrm>
            <a:off x="1783080" y="4572000"/>
            <a:ext cx="4069080" cy="566928"/>
          </a:xfrm>
          <a:prstGeom prst="roundRect">
            <a:avLst>
              <a:gd name="adj" fmla="val 12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predicts the NEXT stage + P(attack within K min) → act before it lands</a:t>
            </a:r>
          </a:p>
        </p:txBody>
      </p:sp>
      <p:sp>
        <p:nvSpPr>
          <p:cNvPr id="15386" name="Rounded Rectangle 15385"/>
          <p:cNvSpPr/>
          <p:nvPr/>
        </p:nvSpPr>
        <p:spPr>
          <a:xfrm>
            <a:off x="6172200" y="2761488"/>
            <a:ext cx="5650992" cy="2395728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5387" name="TextBox 15386"/>
          <p:cNvSpPr txBox="1"/>
          <p:nvPr/>
        </p:nvSpPr>
        <p:spPr>
          <a:xfrm>
            <a:off x="6309360" y="283464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Arial"/>
              </a:rPr>
              <a:t>Real replay, never seen in training: </a:t>
            </a:r>
            <a:r>
              <a:rPr sz="1000" b="0" i="0">
                <a:solidFill>
                  <a:srgbClr val="1F3864"/>
                </a:solidFill>
                <a:latin typeface="Arial"/>
              </a:rPr>
              <a:t>CIC-IDS2017 Friday · host 192.168.10.15</a:t>
            </a:r>
          </a:p>
        </p:txBody>
      </p:sp>
      <p:cxnSp>
        <p:nvCxnSpPr>
          <p:cNvPr id="15388" name="Connector 15387"/>
          <p:cNvCxnSpPr/>
          <p:nvPr/>
        </p:nvCxnSpPr>
        <p:spPr>
          <a:xfrm>
            <a:off x="6355080" y="3977639"/>
            <a:ext cx="5303520" cy="0"/>
          </a:xfrm>
          <a:prstGeom prst="line">
            <a:avLst/>
          </a:prstGeom>
          <a:ln w="1587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89" name="Connector 15388"/>
          <p:cNvCxnSpPr/>
          <p:nvPr/>
        </p:nvCxnSpPr>
        <p:spPr>
          <a:xfrm>
            <a:off x="6355080" y="3931920"/>
            <a:ext cx="0" cy="91439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0" name="TextBox 15389"/>
          <p:cNvSpPr txBox="1"/>
          <p:nvPr/>
        </p:nvSpPr>
        <p:spPr>
          <a:xfrm>
            <a:off x="6080760" y="405079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14:38</a:t>
            </a:r>
          </a:p>
        </p:txBody>
      </p:sp>
      <p:cxnSp>
        <p:nvCxnSpPr>
          <p:cNvPr id="15391" name="Connector 15390"/>
          <p:cNvCxnSpPr/>
          <p:nvPr/>
        </p:nvCxnSpPr>
        <p:spPr>
          <a:xfrm>
            <a:off x="6944360" y="3931920"/>
            <a:ext cx="0" cy="91439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2" name="TextBox 15391"/>
          <p:cNvSpPr txBox="1"/>
          <p:nvPr/>
        </p:nvSpPr>
        <p:spPr>
          <a:xfrm>
            <a:off x="6670040" y="405079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14:39</a:t>
            </a:r>
          </a:p>
        </p:txBody>
      </p:sp>
      <p:cxnSp>
        <p:nvCxnSpPr>
          <p:cNvPr id="15393" name="Connector 15392"/>
          <p:cNvCxnSpPr/>
          <p:nvPr/>
        </p:nvCxnSpPr>
        <p:spPr>
          <a:xfrm>
            <a:off x="7533640" y="3931920"/>
            <a:ext cx="0" cy="91439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4" name="TextBox 15393"/>
          <p:cNvSpPr txBox="1"/>
          <p:nvPr/>
        </p:nvSpPr>
        <p:spPr>
          <a:xfrm>
            <a:off x="7259320" y="405079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14:40</a:t>
            </a:r>
          </a:p>
        </p:txBody>
      </p:sp>
      <p:cxnSp>
        <p:nvCxnSpPr>
          <p:cNvPr id="15395" name="Connector 15394"/>
          <p:cNvCxnSpPr/>
          <p:nvPr/>
        </p:nvCxnSpPr>
        <p:spPr>
          <a:xfrm>
            <a:off x="8122920" y="3931920"/>
            <a:ext cx="0" cy="91439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6" name="TextBox 15395"/>
          <p:cNvSpPr txBox="1"/>
          <p:nvPr/>
        </p:nvSpPr>
        <p:spPr>
          <a:xfrm>
            <a:off x="7848599" y="405079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14:41</a:t>
            </a:r>
          </a:p>
        </p:txBody>
      </p:sp>
      <p:cxnSp>
        <p:nvCxnSpPr>
          <p:cNvPr id="15397" name="Connector 15396"/>
          <p:cNvCxnSpPr/>
          <p:nvPr/>
        </p:nvCxnSpPr>
        <p:spPr>
          <a:xfrm>
            <a:off x="8712200" y="3931920"/>
            <a:ext cx="0" cy="91439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8" name="TextBox 15397"/>
          <p:cNvSpPr txBox="1"/>
          <p:nvPr/>
        </p:nvSpPr>
        <p:spPr>
          <a:xfrm>
            <a:off x="8437880" y="405079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14:42</a:t>
            </a:r>
          </a:p>
        </p:txBody>
      </p:sp>
      <p:cxnSp>
        <p:nvCxnSpPr>
          <p:cNvPr id="15399" name="Connector 15398"/>
          <p:cNvCxnSpPr/>
          <p:nvPr/>
        </p:nvCxnSpPr>
        <p:spPr>
          <a:xfrm>
            <a:off x="9301480" y="3931920"/>
            <a:ext cx="0" cy="91439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00" name="TextBox 15399"/>
          <p:cNvSpPr txBox="1"/>
          <p:nvPr/>
        </p:nvSpPr>
        <p:spPr>
          <a:xfrm>
            <a:off x="9027160" y="405079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14:43</a:t>
            </a:r>
          </a:p>
        </p:txBody>
      </p:sp>
      <p:cxnSp>
        <p:nvCxnSpPr>
          <p:cNvPr id="15401" name="Connector 15400"/>
          <p:cNvCxnSpPr/>
          <p:nvPr/>
        </p:nvCxnSpPr>
        <p:spPr>
          <a:xfrm>
            <a:off x="9890760" y="3931920"/>
            <a:ext cx="0" cy="91439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02" name="TextBox 15401"/>
          <p:cNvSpPr txBox="1"/>
          <p:nvPr/>
        </p:nvSpPr>
        <p:spPr>
          <a:xfrm>
            <a:off x="9616440" y="405079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14:44</a:t>
            </a:r>
          </a:p>
        </p:txBody>
      </p:sp>
      <p:cxnSp>
        <p:nvCxnSpPr>
          <p:cNvPr id="15403" name="Connector 15402"/>
          <p:cNvCxnSpPr/>
          <p:nvPr/>
        </p:nvCxnSpPr>
        <p:spPr>
          <a:xfrm>
            <a:off x="10480040" y="3931920"/>
            <a:ext cx="0" cy="91439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04" name="TextBox 15403"/>
          <p:cNvSpPr txBox="1"/>
          <p:nvPr/>
        </p:nvSpPr>
        <p:spPr>
          <a:xfrm>
            <a:off x="10205720" y="405079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14:45</a:t>
            </a:r>
          </a:p>
        </p:txBody>
      </p:sp>
      <p:cxnSp>
        <p:nvCxnSpPr>
          <p:cNvPr id="15405" name="Connector 15404"/>
          <p:cNvCxnSpPr/>
          <p:nvPr/>
        </p:nvCxnSpPr>
        <p:spPr>
          <a:xfrm>
            <a:off x="11069319" y="3931920"/>
            <a:ext cx="0" cy="91439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06" name="TextBox 15405"/>
          <p:cNvSpPr txBox="1"/>
          <p:nvPr/>
        </p:nvSpPr>
        <p:spPr>
          <a:xfrm>
            <a:off x="10794999" y="405079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14:46</a:t>
            </a:r>
          </a:p>
        </p:txBody>
      </p:sp>
      <p:cxnSp>
        <p:nvCxnSpPr>
          <p:cNvPr id="15407" name="Connector 15406"/>
          <p:cNvCxnSpPr/>
          <p:nvPr/>
        </p:nvCxnSpPr>
        <p:spPr>
          <a:xfrm>
            <a:off x="11658600" y="3931920"/>
            <a:ext cx="0" cy="91439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08" name="TextBox 15407"/>
          <p:cNvSpPr txBox="1"/>
          <p:nvPr/>
        </p:nvSpPr>
        <p:spPr>
          <a:xfrm>
            <a:off x="11384280" y="405079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Arial"/>
              </a:rPr>
              <a:t>14:47</a:t>
            </a:r>
          </a:p>
        </p:txBody>
      </p:sp>
      <p:sp>
        <p:nvSpPr>
          <p:cNvPr id="15409" name="Oval 15408"/>
          <p:cNvSpPr/>
          <p:nvPr/>
        </p:nvSpPr>
        <p:spPr>
          <a:xfrm>
            <a:off x="8058911" y="3913631"/>
            <a:ext cx="128016" cy="128016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5410" name="Oval 15409"/>
          <p:cNvSpPr/>
          <p:nvPr/>
        </p:nvSpPr>
        <p:spPr>
          <a:xfrm>
            <a:off x="10416032" y="3913631"/>
            <a:ext cx="128016" cy="12801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5411" name="Rounded Rectangle 15410"/>
          <p:cNvSpPr/>
          <p:nvPr/>
        </p:nvSpPr>
        <p:spPr>
          <a:xfrm>
            <a:off x="7254239" y="3154680"/>
            <a:ext cx="1737360" cy="566928"/>
          </a:xfrm>
          <a:prstGeom prst="roundRect">
            <a:avLst>
              <a:gd name="adj" fmla="val 12000"/>
            </a:avLst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AEGIS warns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P(attack ≤5 min) = 82.5%</a:t>
            </a:r>
          </a:p>
        </p:txBody>
      </p:sp>
      <p:cxnSp>
        <p:nvCxnSpPr>
          <p:cNvPr id="15412" name="Connector 15411"/>
          <p:cNvCxnSpPr/>
          <p:nvPr/>
        </p:nvCxnSpPr>
        <p:spPr>
          <a:xfrm>
            <a:off x="8122920" y="3721608"/>
            <a:ext cx="0" cy="173736"/>
          </a:xfrm>
          <a:prstGeom prst="line">
            <a:avLst/>
          </a:prstGeom>
          <a:ln w="19050">
            <a:solidFill>
              <a:srgbClr val="E877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13" name="Rounded Rectangle 15412"/>
          <p:cNvSpPr/>
          <p:nvPr/>
        </p:nvSpPr>
        <p:spPr>
          <a:xfrm>
            <a:off x="9748520" y="3154680"/>
            <a:ext cx="1463040" cy="566928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C2 begins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IDS can alert here</a:t>
            </a:r>
          </a:p>
        </p:txBody>
      </p:sp>
      <p:cxnSp>
        <p:nvCxnSpPr>
          <p:cNvPr id="15414" name="Connector 15413"/>
          <p:cNvCxnSpPr/>
          <p:nvPr/>
        </p:nvCxnSpPr>
        <p:spPr>
          <a:xfrm>
            <a:off x="10480040" y="3721608"/>
            <a:ext cx="0" cy="173736"/>
          </a:xfrm>
          <a:prstGeom prst="line">
            <a:avLst/>
          </a:prstGeom>
          <a:ln w="19050">
            <a:solidFill>
              <a:srgbClr val="C039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15" name="Connector 15414"/>
          <p:cNvCxnSpPr/>
          <p:nvPr/>
        </p:nvCxnSpPr>
        <p:spPr>
          <a:xfrm>
            <a:off x="8122920" y="4370832"/>
            <a:ext cx="2357120" cy="0"/>
          </a:xfrm>
          <a:prstGeom prst="line">
            <a:avLst/>
          </a:prstGeom>
          <a:ln w="28575">
            <a:solidFill>
              <a:srgbClr val="2E8B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16" name="Connector 15415"/>
          <p:cNvCxnSpPr/>
          <p:nvPr/>
        </p:nvCxnSpPr>
        <p:spPr>
          <a:xfrm>
            <a:off x="8122920" y="4297680"/>
            <a:ext cx="0" cy="146304"/>
          </a:xfrm>
          <a:prstGeom prst="line">
            <a:avLst/>
          </a:prstGeom>
          <a:ln w="28575">
            <a:solidFill>
              <a:srgbClr val="2E8B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17" name="Connector 15416"/>
          <p:cNvCxnSpPr/>
          <p:nvPr/>
        </p:nvCxnSpPr>
        <p:spPr>
          <a:xfrm>
            <a:off x="10480040" y="4297680"/>
            <a:ext cx="0" cy="146304"/>
          </a:xfrm>
          <a:prstGeom prst="line">
            <a:avLst/>
          </a:prstGeom>
          <a:ln w="28575">
            <a:solidFill>
              <a:srgbClr val="2E8B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18" name="TextBox 15417"/>
          <p:cNvSpPr txBox="1"/>
          <p:nvPr/>
        </p:nvSpPr>
        <p:spPr>
          <a:xfrm>
            <a:off x="8122920" y="4425696"/>
            <a:ext cx="235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E8B57"/>
                </a:solidFill>
                <a:latin typeface="Arial"/>
              </a:rPr>
              <a:t>4 min lead time</a:t>
            </a:r>
          </a:p>
        </p:txBody>
      </p:sp>
      <p:sp>
        <p:nvSpPr>
          <p:cNvPr id="15419" name="TextBox 15418"/>
          <p:cNvSpPr txBox="1"/>
          <p:nvPr/>
        </p:nvSpPr>
        <p:spPr>
          <a:xfrm>
            <a:off x="6309360" y="4681728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Arial"/>
              </a:rPr>
              <a:t>Why: </a:t>
            </a:r>
            <a:r>
              <a:rPr sz="900" b="0" i="0">
                <a:solidFill>
                  <a:srgbClr val="595959"/>
                </a:solidFill>
                <a:latin typeface="Arial"/>
              </a:rPr>
              <a:t>PSH flags per flow · share of flows to ports &lt; 1024 · inter-arrival time variance</a:t>
            </a:r>
          </a:p>
        </p:txBody>
      </p:sp>
      <p:sp>
        <p:nvSpPr>
          <p:cNvPr id="15420" name="TextBox 15419"/>
          <p:cNvSpPr txBox="1"/>
          <p:nvPr/>
        </p:nvSpPr>
        <p:spPr>
          <a:xfrm>
            <a:off x="365760" y="528523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7722"/>
                </a:solidFill>
                <a:latin typeface="Arial"/>
              </a:rPr>
              <a:t>▸ </a:t>
            </a:r>
            <a:r>
              <a:rPr sz="1300" b="1" i="0">
                <a:solidFill>
                  <a:srgbClr val="1F3864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15421" name="Rounded Rectangle 15420"/>
          <p:cNvSpPr/>
          <p:nvPr/>
        </p:nvSpPr>
        <p:spPr>
          <a:xfrm>
            <a:off x="365760" y="5577840"/>
            <a:ext cx="2727198" cy="694944"/>
          </a:xfrm>
          <a:prstGeom prst="roundRect">
            <a:avLst>
              <a:gd name="adj" fmla="val 10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 i="0">
                <a:solidFill>
                  <a:srgbClr val="1F3864"/>
                </a:solidFill>
                <a:latin typeface="Arial"/>
              </a:rPr>
              <a:t>Forecaster, not classifier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Arial"/>
              </a:rPr>
              <a:t>a world model imagines the host's next minutes</a:t>
            </a:r>
          </a:p>
        </p:txBody>
      </p:sp>
      <p:sp>
        <p:nvSpPr>
          <p:cNvPr id="15422" name="Rounded Rectangle 15421"/>
          <p:cNvSpPr/>
          <p:nvPr/>
        </p:nvSpPr>
        <p:spPr>
          <a:xfrm>
            <a:off x="3275838" y="5577840"/>
            <a:ext cx="2727198" cy="694944"/>
          </a:xfrm>
          <a:prstGeom prst="roundRect">
            <a:avLst>
              <a:gd name="adj" fmla="val 10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 i="0">
                <a:solidFill>
                  <a:srgbClr val="1F3864"/>
                </a:solidFill>
                <a:latin typeface="Arial"/>
              </a:rPr>
              <a:t>Calibrated (ECE 0.006)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Arial"/>
              </a:rPr>
              <a:t>probabilities mean what they say; precision-first alarm</a:t>
            </a:r>
          </a:p>
        </p:txBody>
      </p:sp>
      <p:sp>
        <p:nvSpPr>
          <p:cNvPr id="15423" name="Rounded Rectangle 15422"/>
          <p:cNvSpPr/>
          <p:nvPr/>
        </p:nvSpPr>
        <p:spPr>
          <a:xfrm>
            <a:off x="6185916" y="5577840"/>
            <a:ext cx="2727198" cy="694944"/>
          </a:xfrm>
          <a:prstGeom prst="roundRect">
            <a:avLst>
              <a:gd name="adj" fmla="val 10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 i="0">
                <a:solidFill>
                  <a:srgbClr val="1F3864"/>
                </a:solidFill>
                <a:latin typeface="Arial"/>
              </a:rPr>
              <a:t>Explainable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Arial"/>
              </a:rPr>
              <a:t>which feature &amp; which minute drove each warning</a:t>
            </a:r>
          </a:p>
        </p:txBody>
      </p:sp>
      <p:sp>
        <p:nvSpPr>
          <p:cNvPr id="15424" name="Rounded Rectangle 15423"/>
          <p:cNvSpPr/>
          <p:nvPr/>
        </p:nvSpPr>
        <p:spPr>
          <a:xfrm>
            <a:off x="9095994" y="5577840"/>
            <a:ext cx="2727198" cy="694944"/>
          </a:xfrm>
          <a:prstGeom prst="roundRect">
            <a:avLst>
              <a:gd name="adj" fmla="val 10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 i="0">
                <a:solidFill>
                  <a:srgbClr val="1F3864"/>
                </a:solidFill>
                <a:latin typeface="Arial"/>
              </a:rPr>
              <a:t>Tamper-evident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Arial"/>
              </a:rPr>
              <a:t>SHA-256 hash-chained alert &amp; audit log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 wrap="none"/>
          <a:lstStyle/>
          <a:p>
            <a:pPr algn="ctr"/>
            <a:r>
              <a:rPr lang="en-US" dirty="0" b="1" sz="1100"/>
              <a:t>RoadPulse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15568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7722"/>
                </a:solidFill>
                <a:latin typeface="Arial"/>
              </a:rPr>
              <a:t>▸ </a:t>
            </a:r>
            <a:r>
              <a:rPr sz="1300" b="1" i="0">
                <a:solidFill>
                  <a:srgbClr val="1F3864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444752"/>
            <a:ext cx="2692908" cy="274320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ML / Data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1783080"/>
            <a:ext cx="1309878" cy="265176"/>
          </a:xfrm>
          <a:prstGeom prst="roundRect">
            <a:avLst>
              <a:gd name="adj" fmla="val 3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Python 3.12 · pandas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1748790" y="1783080"/>
            <a:ext cx="1309878" cy="265176"/>
          </a:xfrm>
          <a:prstGeom prst="roundRect">
            <a:avLst>
              <a:gd name="adj" fmla="val 3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PyTorch (training)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65760" y="2093976"/>
            <a:ext cx="1309878" cy="265176"/>
          </a:xfrm>
          <a:prstGeom prst="roundRect">
            <a:avLst>
              <a:gd name="adj" fmla="val 3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NumPy runtime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1748790" y="2093976"/>
            <a:ext cx="1309878" cy="265176"/>
          </a:xfrm>
          <a:prstGeom prst="roundRect">
            <a:avLst>
              <a:gd name="adj" fmla="val 3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XGBoost · scikit-learn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87268" y="1444752"/>
            <a:ext cx="2692908" cy="274320"/>
          </a:xfrm>
          <a:prstGeom prst="roundRect">
            <a:avLst>
              <a:gd name="adj" fmla="val 30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Backend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287268" y="1783080"/>
            <a:ext cx="1309878" cy="265176"/>
          </a:xfrm>
          <a:prstGeom prst="roundRect">
            <a:avLst>
              <a:gd name="adj" fmla="val 3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FastAPI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670298" y="1783080"/>
            <a:ext cx="1309878" cy="265176"/>
          </a:xfrm>
          <a:prstGeom prst="roundRect">
            <a:avLst>
              <a:gd name="adj" fmla="val 3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SQLAlchemy + Alembic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287268" y="2093976"/>
            <a:ext cx="1309878" cy="265176"/>
          </a:xfrm>
          <a:prstGeom prst="roundRect">
            <a:avLst>
              <a:gd name="adj" fmla="val 3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PostgreSQL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4670298" y="2093976"/>
            <a:ext cx="1309878" cy="265176"/>
          </a:xfrm>
          <a:prstGeom prst="roundRect">
            <a:avLst>
              <a:gd name="adj" fmla="val 3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pure-Python PCAP parser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6208776" y="1444752"/>
            <a:ext cx="2692908" cy="274320"/>
          </a:xfrm>
          <a:prstGeom prst="roundRect">
            <a:avLst>
              <a:gd name="adj" fmla="val 30000"/>
            </a:avLst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Frontend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208776" y="1783080"/>
            <a:ext cx="1309878" cy="265176"/>
          </a:xfrm>
          <a:prstGeom prst="roundRect">
            <a:avLst>
              <a:gd name="adj" fmla="val 3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Next.js 14 · React 18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7591806" y="1783080"/>
            <a:ext cx="1309878" cy="265176"/>
          </a:xfrm>
          <a:prstGeom prst="roundRect">
            <a:avLst>
              <a:gd name="adj" fmla="val 3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TypeScript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208776" y="2093976"/>
            <a:ext cx="1309878" cy="265176"/>
          </a:xfrm>
          <a:prstGeom prst="roundRect">
            <a:avLst>
              <a:gd name="adj" fmla="val 3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Tailwind CSS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7591806" y="2093976"/>
            <a:ext cx="1309878" cy="265176"/>
          </a:xfrm>
          <a:prstGeom prst="roundRect">
            <a:avLst>
              <a:gd name="adj" fmla="val 3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server-side API-key proxy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9130284" y="1444752"/>
            <a:ext cx="2692908" cy="274320"/>
          </a:xfrm>
          <a:prstGeom prst="roundRect">
            <a:avLst>
              <a:gd name="adj" fmla="val 30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Ops / Hardware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9130284" y="1783080"/>
            <a:ext cx="1309878" cy="265176"/>
          </a:xfrm>
          <a:prstGeom prst="roundRect">
            <a:avLst>
              <a:gd name="adj" fmla="val 3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Docker Compose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10513313" y="1783080"/>
            <a:ext cx="1309878" cy="265176"/>
          </a:xfrm>
          <a:prstGeom prst="roundRect">
            <a:avLst>
              <a:gd name="adj" fmla="val 3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GitHub Actions CI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9130284" y="2093976"/>
            <a:ext cx="1309878" cy="265176"/>
          </a:xfrm>
          <a:prstGeom prst="roundRect">
            <a:avLst>
              <a:gd name="adj" fmla="val 3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CPU only, no GPU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10513313" y="2093976"/>
            <a:ext cx="1309878" cy="265176"/>
          </a:xfrm>
          <a:prstGeom prst="roundRect">
            <a:avLst>
              <a:gd name="adj" fmla="val 3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850" b="0" i="0">
                <a:solidFill>
                  <a:srgbClr val="1A1A1A"/>
                </a:solidFill>
                <a:latin typeface="Arial"/>
              </a:rPr>
              <a:t>self-hosted (data stays on-prem)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365760" y="2761488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7722"/>
                </a:solidFill>
                <a:latin typeface="Arial"/>
              </a:rPr>
              <a:t>▸ </a:t>
            </a:r>
            <a:r>
              <a:rPr sz="1300" b="1" i="0">
                <a:solidFill>
                  <a:srgbClr val="1F3864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365760" y="3108960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Arial"/>
              </a:rPr>
              <a:t>TRAIN</a:t>
            </a:r>
          </a:p>
          <a:p>
            <a:pPr algn="l"/>
            <a:r>
              <a:rPr sz="1000" b="0" i="0">
                <a:solidFill>
                  <a:srgbClr val="1F3864"/>
                </a:solidFill>
                <a:latin typeface="Arial"/>
              </a:rPr>
              <a:t>offline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1188720" y="3108960"/>
            <a:ext cx="1346780" cy="56692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5 datasets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18.9 M flows</a:t>
            </a:r>
          </a:p>
        </p:txBody>
      </p:sp>
      <p:cxnSp>
        <p:nvCxnSpPr>
          <p:cNvPr id="17434" name="Connector 17433"/>
          <p:cNvCxnSpPr/>
          <p:nvPr/>
        </p:nvCxnSpPr>
        <p:spPr>
          <a:xfrm>
            <a:off x="2562932" y="3392424"/>
            <a:ext cx="14630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5" name="Rounded Rectangle 17434"/>
          <p:cNvSpPr/>
          <p:nvPr/>
        </p:nvSpPr>
        <p:spPr>
          <a:xfrm>
            <a:off x="2736668" y="3108960"/>
            <a:ext cx="1346780" cy="566928"/>
          </a:xfrm>
          <a:prstGeom prst="roundRect">
            <a:avLst>
              <a:gd name="adj" fmla="val 12000"/>
            </a:avLst>
          </a:prstGeom>
          <a:solidFill>
            <a:srgbClr val="1F5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Stage labels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→ ATT&amp;CK tactics</a:t>
            </a:r>
          </a:p>
        </p:txBody>
      </p:sp>
      <p:cxnSp>
        <p:nvCxnSpPr>
          <p:cNvPr id="17436" name="Connector 17435"/>
          <p:cNvCxnSpPr/>
          <p:nvPr/>
        </p:nvCxnSpPr>
        <p:spPr>
          <a:xfrm>
            <a:off x="4110881" y="3392424"/>
            <a:ext cx="14630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7" name="Rounded Rectangle 17436"/>
          <p:cNvSpPr/>
          <p:nvPr/>
        </p:nvSpPr>
        <p:spPr>
          <a:xfrm>
            <a:off x="4284617" y="3108960"/>
            <a:ext cx="1346780" cy="56692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Host-minute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windows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5658829" y="3392424"/>
            <a:ext cx="14630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5832565" y="3108960"/>
            <a:ext cx="1346780" cy="566928"/>
          </a:xfrm>
          <a:prstGeom prst="roundRect">
            <a:avLst>
              <a:gd name="adj" fmla="val 12000"/>
            </a:avLst>
          </a:prstGeom>
          <a:solidFill>
            <a:srgbClr val="1F5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Blocked 5-fold CV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30-min blocks, no leak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7206778" y="3392424"/>
            <a:ext cx="14630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Rounded Rectangle 17440"/>
          <p:cNvSpPr/>
          <p:nvPr/>
        </p:nvSpPr>
        <p:spPr>
          <a:xfrm>
            <a:off x="7380514" y="3108960"/>
            <a:ext cx="1346780" cy="56692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Train ensemble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+ XGB / Markov baselines</a:t>
            </a:r>
          </a:p>
        </p:txBody>
      </p:sp>
      <p:cxnSp>
        <p:nvCxnSpPr>
          <p:cNvPr id="17442" name="Connector 17441"/>
          <p:cNvCxnSpPr/>
          <p:nvPr/>
        </p:nvCxnSpPr>
        <p:spPr>
          <a:xfrm>
            <a:off x="8754726" y="3392424"/>
            <a:ext cx="14630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3" name="Rounded Rectangle 17442"/>
          <p:cNvSpPr/>
          <p:nvPr/>
        </p:nvSpPr>
        <p:spPr>
          <a:xfrm>
            <a:off x="8928462" y="3108960"/>
            <a:ext cx="1346780" cy="566928"/>
          </a:xfrm>
          <a:prstGeom prst="roundRect">
            <a:avLst>
              <a:gd name="adj" fmla="val 12000"/>
            </a:avLst>
          </a:prstGeom>
          <a:solidFill>
            <a:srgbClr val="1F5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Calibrate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temperature + F0.5 threshold</a:t>
            </a:r>
          </a:p>
        </p:txBody>
      </p:sp>
      <p:cxnSp>
        <p:nvCxnSpPr>
          <p:cNvPr id="17444" name="Connector 17443"/>
          <p:cNvCxnSpPr/>
          <p:nvPr/>
        </p:nvCxnSpPr>
        <p:spPr>
          <a:xfrm>
            <a:off x="10302675" y="3392424"/>
            <a:ext cx="14630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5" name="Rounded Rectangle 17444"/>
          <p:cNvSpPr/>
          <p:nvPr/>
        </p:nvSpPr>
        <p:spPr>
          <a:xfrm>
            <a:off x="10476411" y="3108960"/>
            <a:ext cx="1346780" cy="56692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Export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NumPy runtime + SHA-256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365760" y="3840480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E87722"/>
                </a:solidFill>
                <a:latin typeface="Arial"/>
              </a:rPr>
              <a:t>SERVE</a:t>
            </a:r>
          </a:p>
          <a:p>
            <a:pPr algn="l"/>
            <a:r>
              <a:rPr sz="1000" b="0" i="0">
                <a:solidFill>
                  <a:srgbClr val="E87722"/>
                </a:solidFill>
                <a:latin typeface="Arial"/>
              </a:rPr>
              <a:t>per upload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1188720" y="3840480"/>
            <a:ext cx="1346780" cy="566928"/>
          </a:xfrm>
          <a:prstGeom prst="roundRect">
            <a:avLst>
              <a:gd name="adj" fmla="val 12000"/>
            </a:avLst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Upload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PCAP / CSV / NetFlow</a:t>
            </a:r>
          </a:p>
        </p:txBody>
      </p:sp>
      <p:cxnSp>
        <p:nvCxnSpPr>
          <p:cNvPr id="17448" name="Connector 17447"/>
          <p:cNvCxnSpPr/>
          <p:nvPr/>
        </p:nvCxnSpPr>
        <p:spPr>
          <a:xfrm>
            <a:off x="2562932" y="4123944"/>
            <a:ext cx="14630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9" name="Rounded Rectangle 17448"/>
          <p:cNvSpPr/>
          <p:nvPr/>
        </p:nvSpPr>
        <p:spPr>
          <a:xfrm>
            <a:off x="2736668" y="3840480"/>
            <a:ext cx="1346780" cy="566928"/>
          </a:xfrm>
          <a:prstGeom prst="roundRect">
            <a:avLst>
              <a:gd name="adj" fmla="val 12000"/>
            </a:avLst>
          </a:prstGeom>
          <a:solidFill>
            <a:srgbClr val="B85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Validate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size · gzip-bomb · sniff</a:t>
            </a:r>
          </a:p>
        </p:txBody>
      </p:sp>
      <p:cxnSp>
        <p:nvCxnSpPr>
          <p:cNvPr id="17450" name="Connector 17449"/>
          <p:cNvCxnSpPr/>
          <p:nvPr/>
        </p:nvCxnSpPr>
        <p:spPr>
          <a:xfrm>
            <a:off x="4110881" y="4123944"/>
            <a:ext cx="14630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1" name="Rounded Rectangle 17450"/>
          <p:cNvSpPr/>
          <p:nvPr/>
        </p:nvSpPr>
        <p:spPr>
          <a:xfrm>
            <a:off x="4284617" y="3840480"/>
            <a:ext cx="1346780" cy="566928"/>
          </a:xfrm>
          <a:prstGeom prst="roundRect">
            <a:avLst>
              <a:gd name="adj" fmla="val 12000"/>
            </a:avLst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Build flows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detect format → model</a:t>
            </a:r>
          </a:p>
        </p:txBody>
      </p:sp>
      <p:cxnSp>
        <p:nvCxnSpPr>
          <p:cNvPr id="17452" name="Connector 17451"/>
          <p:cNvCxnSpPr/>
          <p:nvPr/>
        </p:nvCxnSpPr>
        <p:spPr>
          <a:xfrm>
            <a:off x="5658829" y="4123944"/>
            <a:ext cx="14630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3" name="Rounded Rectangle 17452"/>
          <p:cNvSpPr/>
          <p:nvPr/>
        </p:nvSpPr>
        <p:spPr>
          <a:xfrm>
            <a:off x="5832565" y="3840480"/>
            <a:ext cx="1346780" cy="566928"/>
          </a:xfrm>
          <a:prstGeom prst="roundRect">
            <a:avLst>
              <a:gd name="adj" fmla="val 12000"/>
            </a:avLst>
          </a:prstGeom>
          <a:solidFill>
            <a:srgbClr val="B85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Encode history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last 10 minutes</a:t>
            </a:r>
          </a:p>
        </p:txBody>
      </p:sp>
      <p:cxnSp>
        <p:nvCxnSpPr>
          <p:cNvPr id="17454" name="Connector 17453"/>
          <p:cNvCxnSpPr/>
          <p:nvPr/>
        </p:nvCxnSpPr>
        <p:spPr>
          <a:xfrm>
            <a:off x="7206778" y="4123944"/>
            <a:ext cx="14630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5" name="Rounded Rectangle 17454"/>
          <p:cNvSpPr/>
          <p:nvPr/>
        </p:nvSpPr>
        <p:spPr>
          <a:xfrm>
            <a:off x="7380514" y="3840480"/>
            <a:ext cx="1346780" cy="566928"/>
          </a:xfrm>
          <a:prstGeom prst="roundRect">
            <a:avLst>
              <a:gd name="adj" fmla="val 12000"/>
            </a:avLst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Roll out futures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Monte-Carlo, ensemble</a:t>
            </a:r>
          </a:p>
        </p:txBody>
      </p:sp>
      <p:cxnSp>
        <p:nvCxnSpPr>
          <p:cNvPr id="17456" name="Connector 17455"/>
          <p:cNvCxnSpPr/>
          <p:nvPr/>
        </p:nvCxnSpPr>
        <p:spPr>
          <a:xfrm>
            <a:off x="8754726" y="4123944"/>
            <a:ext cx="14630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7" name="Rounded Rectangle 17456"/>
          <p:cNvSpPr/>
          <p:nvPr/>
        </p:nvSpPr>
        <p:spPr>
          <a:xfrm>
            <a:off x="8928462" y="3840480"/>
            <a:ext cx="1346780" cy="566928"/>
          </a:xfrm>
          <a:prstGeom prst="roundRect">
            <a:avLst>
              <a:gd name="adj" fmla="val 12000"/>
            </a:avLst>
          </a:prstGeom>
          <a:solidFill>
            <a:srgbClr val="B85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Risk + explain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occlusion attribution</a:t>
            </a:r>
          </a:p>
        </p:txBody>
      </p:sp>
      <p:cxnSp>
        <p:nvCxnSpPr>
          <p:cNvPr id="17458" name="Connector 17457"/>
          <p:cNvCxnSpPr/>
          <p:nvPr/>
        </p:nvCxnSpPr>
        <p:spPr>
          <a:xfrm>
            <a:off x="10302675" y="4123944"/>
            <a:ext cx="14630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9" name="Rounded Rectangle 17458"/>
          <p:cNvSpPr/>
          <p:nvPr/>
        </p:nvSpPr>
        <p:spPr>
          <a:xfrm>
            <a:off x="10476411" y="3840480"/>
            <a:ext cx="1346780" cy="566928"/>
          </a:xfrm>
          <a:prstGeom prst="roundRect">
            <a:avLst>
              <a:gd name="adj" fmla="val 12000"/>
            </a:avLst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SOC dashboard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alerts · audit chain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365760" y="4590288"/>
            <a:ext cx="6949440" cy="1682496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7461" name="TextBox 17460"/>
          <p:cNvSpPr txBox="1"/>
          <p:nvPr/>
        </p:nvSpPr>
        <p:spPr>
          <a:xfrm>
            <a:off x="502920" y="4645152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Arial"/>
              </a:rPr>
              <a:t>Inside the world model</a:t>
            </a:r>
            <a:r>
              <a:rPr sz="1000" b="0" i="0">
                <a:solidFill>
                  <a:srgbClr val="595959"/>
                </a:solidFill>
                <a:latin typeface="Arial"/>
              </a:rPr>
              <a:t>  ·  5 members × 43.7 k parameters</a:t>
            </a:r>
          </a:p>
        </p:txBody>
      </p:sp>
      <p:sp>
        <p:nvSpPr>
          <p:cNvPr id="17462" name="Rounded Rectangle 17461"/>
          <p:cNvSpPr/>
          <p:nvPr/>
        </p:nvSpPr>
        <p:spPr>
          <a:xfrm>
            <a:off x="548640" y="5001768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C9DAF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7463" name="Rounded Rectangle 17462"/>
          <p:cNvSpPr/>
          <p:nvPr/>
        </p:nvSpPr>
        <p:spPr>
          <a:xfrm>
            <a:off x="640080" y="5038344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C9DAF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7464" name="Rounded Rectangle 17463"/>
          <p:cNvSpPr/>
          <p:nvPr/>
        </p:nvSpPr>
        <p:spPr>
          <a:xfrm>
            <a:off x="731520" y="507492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C9DAF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7465" name="Rounded Rectangle 17464"/>
          <p:cNvSpPr/>
          <p:nvPr/>
        </p:nvSpPr>
        <p:spPr>
          <a:xfrm>
            <a:off x="731520" y="507492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DCE7F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850" b="1" i="0">
                <a:solidFill>
                  <a:srgbClr val="1F3864"/>
                </a:solidFill>
                <a:latin typeface="Arial"/>
              </a:rPr>
              <a:t>x t-9 … x t</a:t>
            </a:r>
          </a:p>
          <a:p>
            <a:pPr algn="ctr"/>
            <a:r>
              <a:rPr sz="850" b="0" i="0">
                <a:solidFill>
                  <a:srgbClr val="1F3864"/>
                </a:solidFill>
                <a:latin typeface="Arial"/>
              </a:rPr>
              <a:t>10 min of features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2514600" y="5074920"/>
            <a:ext cx="1005840" cy="5486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GRU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encoder</a:t>
            </a:r>
          </a:p>
        </p:txBody>
      </p:sp>
      <p:sp>
        <p:nvSpPr>
          <p:cNvPr id="17467" name="Oval 17466"/>
          <p:cNvSpPr/>
          <p:nvPr/>
        </p:nvSpPr>
        <p:spPr>
          <a:xfrm>
            <a:off x="3749039" y="5074920"/>
            <a:ext cx="640080" cy="54864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h</a:t>
            </a:r>
          </a:p>
        </p:txBody>
      </p:sp>
      <p:sp>
        <p:nvSpPr>
          <p:cNvPr id="17468" name="Rounded Rectangle 17467"/>
          <p:cNvSpPr/>
          <p:nvPr/>
        </p:nvSpPr>
        <p:spPr>
          <a:xfrm>
            <a:off x="4617720" y="507492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Decoder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p(state)</a:t>
            </a:r>
          </a:p>
        </p:txBody>
      </p:sp>
      <p:sp>
        <p:nvSpPr>
          <p:cNvPr id="17469" name="Rounded Rectangle 17468"/>
          <p:cNvSpPr/>
          <p:nvPr/>
        </p:nvSpPr>
        <p:spPr>
          <a:xfrm>
            <a:off x="5943600" y="5074920"/>
            <a:ext cx="1234440" cy="5486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 i="0">
                <a:solidFill>
                  <a:srgbClr val="1A1A1A"/>
                </a:solidFill>
                <a:latin typeface="Arial"/>
              </a:rPr>
              <a:t>sample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Arial"/>
              </a:rPr>
              <a:t>next stage</a:t>
            </a:r>
          </a:p>
        </p:txBody>
      </p:sp>
      <p:cxnSp>
        <p:nvCxnSpPr>
          <p:cNvPr id="17470" name="Connector 17469"/>
          <p:cNvCxnSpPr/>
          <p:nvPr/>
        </p:nvCxnSpPr>
        <p:spPr>
          <a:xfrm>
            <a:off x="2286000" y="5349240"/>
            <a:ext cx="201168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71" name="Connector 17470"/>
          <p:cNvCxnSpPr/>
          <p:nvPr/>
        </p:nvCxnSpPr>
        <p:spPr>
          <a:xfrm>
            <a:off x="3538728" y="5349240"/>
            <a:ext cx="19202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72" name="Connector 17471"/>
          <p:cNvCxnSpPr/>
          <p:nvPr/>
        </p:nvCxnSpPr>
        <p:spPr>
          <a:xfrm>
            <a:off x="4407408" y="5349240"/>
            <a:ext cx="19202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73" name="Connector 17472"/>
          <p:cNvCxnSpPr/>
          <p:nvPr/>
        </p:nvCxnSpPr>
        <p:spPr>
          <a:xfrm>
            <a:off x="5733288" y="5349240"/>
            <a:ext cx="19202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74" name="Connector 17473"/>
          <p:cNvCxnSpPr/>
          <p:nvPr/>
        </p:nvCxnSpPr>
        <p:spPr>
          <a:xfrm>
            <a:off x="6556248" y="5641848"/>
            <a:ext cx="0" cy="256032"/>
          </a:xfrm>
          <a:prstGeom prst="line">
            <a:avLst/>
          </a:prstGeom>
          <a:ln w="19050">
            <a:solidFill>
              <a:srgbClr val="2E8B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75" name="Connector 17474"/>
          <p:cNvCxnSpPr/>
          <p:nvPr/>
        </p:nvCxnSpPr>
        <p:spPr>
          <a:xfrm flipH="1">
            <a:off x="4069080" y="5897880"/>
            <a:ext cx="2487168" cy="0"/>
          </a:xfrm>
          <a:prstGeom prst="line">
            <a:avLst/>
          </a:prstGeom>
          <a:ln w="19050">
            <a:solidFill>
              <a:srgbClr val="2E8B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76" name="Connector 17475"/>
          <p:cNvCxnSpPr/>
          <p:nvPr/>
        </p:nvCxnSpPr>
        <p:spPr>
          <a:xfrm flipV="1">
            <a:off x="4069080" y="5641848"/>
            <a:ext cx="0" cy="256032"/>
          </a:xfrm>
          <a:prstGeom prst="line">
            <a:avLst/>
          </a:prstGeom>
          <a:ln w="1905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7" name="TextBox 17476"/>
          <p:cNvSpPr txBox="1"/>
          <p:nvPr/>
        </p:nvSpPr>
        <p:spPr>
          <a:xfrm>
            <a:off x="4206240" y="593445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2E8B57"/>
                </a:solidFill>
                <a:latin typeface="Arial"/>
              </a:rPr>
              <a:t>GRU transition: feed sampled stage back, repeat +1…+10 min</a:t>
            </a:r>
          </a:p>
        </p:txBody>
      </p:sp>
      <p:sp>
        <p:nvSpPr>
          <p:cNvPr id="17478" name="Rounded Rectangle 17477"/>
          <p:cNvSpPr/>
          <p:nvPr/>
        </p:nvSpPr>
        <p:spPr>
          <a:xfrm>
            <a:off x="7543800" y="4590288"/>
            <a:ext cx="4279392" cy="1682496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 w="12700">
            <a:solidFill>
              <a:srgbClr val="BFE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7479" name="TextBox 17478"/>
          <p:cNvSpPr txBox="1"/>
          <p:nvPr/>
        </p:nvSpPr>
        <p:spPr>
          <a:xfrm>
            <a:off x="7680960" y="4645152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E8B57"/>
                </a:solidFill>
                <a:latin typeface="Arial"/>
              </a:rPr>
              <a:t>Working prototype (in repo)</a:t>
            </a:r>
          </a:p>
        </p:txBody>
      </p:sp>
      <p:sp>
        <p:nvSpPr>
          <p:cNvPr id="17480" name="TextBox 17479"/>
          <p:cNvSpPr txBox="1"/>
          <p:nvPr/>
        </p:nvSpPr>
        <p:spPr>
          <a:xfrm>
            <a:off x="7680960" y="4919472"/>
            <a:ext cx="406908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2E8B57"/>
                </a:solidFill>
                <a:latin typeface="Arial"/>
              </a:rPr>
              <a:t>✔ </a:t>
            </a:r>
            <a:r>
              <a:rPr sz="950" b="0" i="0">
                <a:solidFill>
                  <a:srgbClr val="1A1A1A"/>
                </a:solidFill>
                <a:latin typeface="Arial"/>
              </a:rPr>
              <a:t>Reads CIC CSV · Argus/CTU binetflow · UNSW CSV · raw PCAP</a:t>
            </a:r>
          </a:p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2E8B57"/>
                </a:solidFill>
                <a:latin typeface="Arial"/>
              </a:rPr>
              <a:t>✔ </a:t>
            </a:r>
            <a:r>
              <a:rPr sz="950" b="0" i="0">
                <a:solidFill>
                  <a:srgbClr val="1A1A1A"/>
                </a:solidFill>
                <a:latin typeface="Arial"/>
              </a:rPr>
              <a:t>5 SOC pages: overview · forecast · analysis · alerts · model</a:t>
            </a:r>
          </a:p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2E8B57"/>
                </a:solidFill>
                <a:latin typeface="Arial"/>
              </a:rPr>
              <a:t>✔ </a:t>
            </a:r>
            <a:r>
              <a:rPr sz="950" b="0" i="0">
                <a:solidFill>
                  <a:srgbClr val="1A1A1A"/>
                </a:solidFill>
                <a:latin typeface="Arial"/>
              </a:rPr>
              <a:t>Upload PCAP / CSV → forecasts in seconds</a:t>
            </a:r>
          </a:p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2E8B57"/>
                </a:solidFill>
                <a:latin typeface="Arial"/>
              </a:rPr>
              <a:t>✔ </a:t>
            </a:r>
            <a:r>
              <a:rPr sz="950" b="0" i="0">
                <a:solidFill>
                  <a:srgbClr val="1A1A1A"/>
                </a:solidFill>
                <a:latin typeface="Arial"/>
              </a:rPr>
              <a:t>1.37 ms per host (CPU, 256 rollouts)</a:t>
            </a:r>
          </a:p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2E8B57"/>
                </a:solidFill>
                <a:latin typeface="Arial"/>
              </a:rPr>
              <a:t>✔ </a:t>
            </a:r>
            <a:r>
              <a:rPr sz="950" b="0" i="0">
                <a:solidFill>
                  <a:srgbClr val="1A1A1A"/>
                </a:solidFill>
                <a:latin typeface="Arial"/>
              </a:rPr>
              <a:t>59 backend tests · CI · Docker images verified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 wrap="none"/>
          <a:lstStyle/>
          <a:p>
            <a:pPr algn="ctr"/>
            <a:r>
              <a:rPr lang="en-US" dirty="0" b="1" sz="1100"/>
              <a:t>RoadPulse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155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7722"/>
                </a:solidFill>
                <a:latin typeface="Arial"/>
              </a:rPr>
              <a:t>▸ </a:t>
            </a:r>
            <a:r>
              <a:rPr sz="1300" b="1" i="0">
                <a:solidFill>
                  <a:srgbClr val="1F3864"/>
                </a:solidFill>
                <a:latin typeface="Arial"/>
              </a:rPr>
              <a:t>Analysis of the feasibility of the idea</a:t>
            </a:r>
          </a:p>
        </p:txBody>
      </p:sp>
      <p:graphicFrame>
        <p:nvGraphicFramePr>
          <p:cNvPr id="17411" name="Chart 17410"/>
          <p:cNvGraphicFramePr>
            <a:graphicFrameLocks noGrp="1"/>
          </p:cNvGraphicFramePr>
          <p:nvPr/>
        </p:nvGraphicFramePr>
        <p:xfrm>
          <a:off x="365760" y="1417320"/>
          <a:ext cx="5669280" cy="30632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7412" name="Rounded Rectangle 17411"/>
          <p:cNvSpPr/>
          <p:nvPr/>
        </p:nvSpPr>
        <p:spPr>
          <a:xfrm>
            <a:off x="365760" y="4572000"/>
            <a:ext cx="1314450" cy="960120"/>
          </a:xfrm>
          <a:prstGeom prst="roundRect">
            <a:avLst>
              <a:gd name="adj" fmla="val 10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2000" b="1" i="0">
                <a:solidFill>
                  <a:srgbClr val="E87722"/>
                </a:solidFill>
                <a:latin typeface="Arial"/>
              </a:rPr>
              <a:t>74%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Arial"/>
              </a:rPr>
              <a:t>of warnings are real attacks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1817369" y="4572000"/>
            <a:ext cx="1314450" cy="960120"/>
          </a:xfrm>
          <a:prstGeom prst="roundRect">
            <a:avLst>
              <a:gd name="adj" fmla="val 10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2000" b="1" i="0">
                <a:solidFill>
                  <a:srgbClr val="E87722"/>
                </a:solidFill>
                <a:latin typeface="Arial"/>
              </a:rPr>
              <a:t>0.3%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Arial"/>
              </a:rPr>
              <a:t>false-alarm rate on quiet minutes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268979" y="4572000"/>
            <a:ext cx="1314450" cy="960120"/>
          </a:xfrm>
          <a:prstGeom prst="roundRect">
            <a:avLst>
              <a:gd name="adj" fmla="val 10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2000" b="1" i="0">
                <a:solidFill>
                  <a:srgbClr val="E87722"/>
                </a:solidFill>
                <a:latin typeface="Arial"/>
              </a:rPr>
              <a:t>0.16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Arial"/>
              </a:rPr>
              <a:t>false warnings per host-hour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720590" y="4572000"/>
            <a:ext cx="1314450" cy="960120"/>
          </a:xfrm>
          <a:prstGeom prst="roundRect">
            <a:avLst>
              <a:gd name="adj" fmla="val 10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2000" b="1" i="0">
                <a:solidFill>
                  <a:srgbClr val="E87722"/>
                </a:solidFill>
                <a:latin typeface="Arial"/>
              </a:rPr>
              <a:t>1.4 ms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Arial"/>
              </a:rPr>
              <a:t>per host, CPU, no GPU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65760" y="5623560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Arial"/>
              </a:rPr>
              <a:t>Honest limit: only 14% of attack onsets are warned in advance (median 5 min early), and the very first step of a campaign is never forecast (0% of 11 cold onsets).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6355080" y="111556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87722"/>
                </a:solidFill>
                <a:latin typeface="Arial"/>
              </a:rPr>
              <a:t>▸ </a:t>
            </a:r>
            <a:r>
              <a:rPr sz="1200" b="1" i="0">
                <a:solidFill>
                  <a:srgbClr val="1F3864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9189720" y="11155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87722"/>
                </a:solidFill>
                <a:latin typeface="Arial"/>
              </a:rPr>
              <a:t>▸ </a:t>
            </a:r>
            <a:r>
              <a:rPr sz="1200" b="1" i="0">
                <a:solidFill>
                  <a:srgbClr val="1F3864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6355080" y="1591056"/>
            <a:ext cx="2606040" cy="786384"/>
          </a:xfrm>
          <a:prstGeom prst="roundRect">
            <a:avLst>
              <a:gd name="adj" fmla="val 12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Attacks are rare: 1.7% of host-minutes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8979408" y="1984248"/>
            <a:ext cx="19202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Rounded Rectangle 17420"/>
          <p:cNvSpPr/>
          <p:nvPr/>
        </p:nvSpPr>
        <p:spPr>
          <a:xfrm>
            <a:off x="9189720" y="1591056"/>
            <a:ext cx="2633472" cy="786384"/>
          </a:xfrm>
          <a:prstGeom prst="roundRect">
            <a:avLst>
              <a:gd name="adj" fmla="val 12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Precision-first alarm: threshold maximises F0.5; calibrated probabilities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355080" y="2487168"/>
            <a:ext cx="2606040" cy="786384"/>
          </a:xfrm>
          <a:prstGeom prst="roundRect">
            <a:avLst>
              <a:gd name="adj" fmla="val 12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New networks look different: zero-shot AUROC 0.14–0.60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8979408" y="2880360"/>
            <a:ext cx="19202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Rounded Rectangle 17423"/>
          <p:cNvSpPr/>
          <p:nvPr/>
        </p:nvSpPr>
        <p:spPr>
          <a:xfrm>
            <a:off x="9189720" y="2487168"/>
            <a:ext cx="2633472" cy="786384"/>
          </a:xfrm>
          <a:prstGeom prst="roundRect">
            <a:avLst>
              <a:gd name="adj" fmla="val 12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Joint multi-dataset training (CTU-13 precision 57% → 84%) + short on-site fine-tuning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6355080" y="3383280"/>
            <a:ext cx="2606040" cy="786384"/>
          </a:xfrm>
          <a:prstGeom prst="roundRect">
            <a:avLst>
              <a:gd name="adj" fmla="val 12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First step of a campaign is not forecastable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8979408" y="3776472"/>
            <a:ext cx="19202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Rounded Rectangle 17426"/>
          <p:cNvSpPr/>
          <p:nvPr/>
        </p:nvSpPr>
        <p:spPr>
          <a:xfrm>
            <a:off x="9189720" y="3383280"/>
            <a:ext cx="2633472" cy="786384"/>
          </a:xfrm>
          <a:prstGeom prst="roundRect">
            <a:avLst>
              <a:gd name="adj" fmla="val 12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Nowcast detector runs alongside; risk engine escalates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6355080" y="4279392"/>
            <a:ext cx="2606040" cy="786384"/>
          </a:xfrm>
          <a:prstGeom prst="roundRect">
            <a:avLst>
              <a:gd name="adj" fmla="val 12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Many sensor formats (PCAP, NetFlow, CSV)</a:t>
            </a:r>
          </a:p>
        </p:txBody>
      </p:sp>
      <p:cxnSp>
        <p:nvCxnSpPr>
          <p:cNvPr id="17429" name="Connector 17428"/>
          <p:cNvCxnSpPr/>
          <p:nvPr/>
        </p:nvCxnSpPr>
        <p:spPr>
          <a:xfrm>
            <a:off x="8979408" y="4672583"/>
            <a:ext cx="19202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Rounded Rectangle 17429"/>
          <p:cNvSpPr/>
          <p:nvPr/>
        </p:nvSpPr>
        <p:spPr>
          <a:xfrm>
            <a:off x="9189720" y="4279392"/>
            <a:ext cx="2633472" cy="786384"/>
          </a:xfrm>
          <a:prstGeom prst="roundRect">
            <a:avLst>
              <a:gd name="adj" fmla="val 12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Portable 26-feature schema + built-in PCAP flow builder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6355080" y="5175504"/>
            <a:ext cx="2606040" cy="786384"/>
          </a:xfrm>
          <a:prstGeom prst="roundRect">
            <a:avLst>
              <a:gd name="adj" fmla="val 12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Hostile uploads, data leakage</a:t>
            </a:r>
          </a:p>
        </p:txBody>
      </p:sp>
      <p:cxnSp>
        <p:nvCxnSpPr>
          <p:cNvPr id="17432" name="Connector 17431"/>
          <p:cNvCxnSpPr/>
          <p:nvPr/>
        </p:nvCxnSpPr>
        <p:spPr>
          <a:xfrm>
            <a:off x="8979408" y="5568696"/>
            <a:ext cx="192024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3" name="Rounded Rectangle 17432"/>
          <p:cNvSpPr/>
          <p:nvPr/>
        </p:nvSpPr>
        <p:spPr>
          <a:xfrm>
            <a:off x="9189720" y="5175504"/>
            <a:ext cx="2633472" cy="786384"/>
          </a:xfrm>
          <a:prstGeom prst="roundRect">
            <a:avLst>
              <a:gd name="adj" fmla="val 12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l"/>
            <a:r>
              <a:rPr sz="950" b="0" i="0">
                <a:solidFill>
                  <a:srgbClr val="1A1A1A"/>
                </a:solidFill>
                <a:latin typeface="Arial"/>
              </a:rPr>
              <a:t>Size &amp; gzip-bomb caps, content sniffing, API key server-side, on-prem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 wrap="none"/>
          <a:lstStyle/>
          <a:p>
            <a:pPr algn="ctr"/>
            <a:r>
              <a:rPr lang="en-US" dirty="0" b="1" sz="1100"/>
              <a:t>RoadPulse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155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7722"/>
                </a:solidFill>
                <a:latin typeface="Arial"/>
              </a:rPr>
              <a:t>▸ </a:t>
            </a:r>
            <a:r>
              <a:rPr sz="1300" b="1" i="0">
                <a:solidFill>
                  <a:srgbClr val="1F3864"/>
                </a:solidFill>
                <a:latin typeface="Arial"/>
              </a:rPr>
              <a:t>Potential impact on the target audience</a:t>
            </a:r>
          </a:p>
        </p:txBody>
      </p:sp>
      <p:cxnSp>
        <p:nvCxnSpPr>
          <p:cNvPr id="17411" name="Connector 17410"/>
          <p:cNvCxnSpPr/>
          <p:nvPr/>
        </p:nvCxnSpPr>
        <p:spPr>
          <a:xfrm flipH="1" flipV="1">
            <a:off x="2194560" y="1965960"/>
            <a:ext cx="914400" cy="1783079"/>
          </a:xfrm>
          <a:prstGeom prst="line">
            <a:avLst/>
          </a:prstGeom>
          <a:ln w="19050">
            <a:solidFill>
              <a:srgbClr val="9DB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2" name="Connector 17411"/>
          <p:cNvCxnSpPr/>
          <p:nvPr/>
        </p:nvCxnSpPr>
        <p:spPr>
          <a:xfrm flipV="1">
            <a:off x="3108960" y="1965960"/>
            <a:ext cx="868679" cy="1783079"/>
          </a:xfrm>
          <a:prstGeom prst="line">
            <a:avLst/>
          </a:prstGeom>
          <a:ln w="19050">
            <a:solidFill>
              <a:srgbClr val="9DB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3" name="Connector 17412"/>
          <p:cNvCxnSpPr/>
          <p:nvPr/>
        </p:nvCxnSpPr>
        <p:spPr>
          <a:xfrm flipH="1">
            <a:off x="2194560" y="3749039"/>
            <a:ext cx="914400" cy="1463041"/>
          </a:xfrm>
          <a:prstGeom prst="line">
            <a:avLst/>
          </a:prstGeom>
          <a:ln w="19050">
            <a:solidFill>
              <a:srgbClr val="9DB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14" name="Connector 17413"/>
          <p:cNvCxnSpPr/>
          <p:nvPr/>
        </p:nvCxnSpPr>
        <p:spPr>
          <a:xfrm>
            <a:off x="3108960" y="3749039"/>
            <a:ext cx="868679" cy="1463041"/>
          </a:xfrm>
          <a:prstGeom prst="line">
            <a:avLst/>
          </a:prstGeom>
          <a:ln w="19050">
            <a:solidFill>
              <a:srgbClr val="9DB9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Oval 17414"/>
          <p:cNvSpPr/>
          <p:nvPr/>
        </p:nvSpPr>
        <p:spPr>
          <a:xfrm>
            <a:off x="2377439" y="3017520"/>
            <a:ext cx="1463040" cy="146304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AEGIS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Arial"/>
              </a:rPr>
              <a:t>attack forecast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65759" y="1417320"/>
            <a:ext cx="2240280" cy="868680"/>
          </a:xfrm>
          <a:prstGeom prst="roundRect">
            <a:avLst>
              <a:gd name="adj" fmla="val 12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i="0">
                <a:solidFill>
                  <a:srgbClr val="1F3864"/>
                </a:solidFill>
                <a:latin typeface="Arial"/>
              </a:rPr>
              <a:t>NTRO / CERT-In analysts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Arial"/>
              </a:rPr>
              <a:t>minutes of warning to isolate a host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291839" y="1417320"/>
            <a:ext cx="2240280" cy="868680"/>
          </a:xfrm>
          <a:prstGeom prst="roundRect">
            <a:avLst>
              <a:gd name="adj" fmla="val 12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i="0">
                <a:solidFill>
                  <a:srgbClr val="1F3864"/>
                </a:solidFill>
                <a:latin typeface="Arial"/>
              </a:rPr>
              <a:t>Enterprise &amp; govt SOCs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Arial"/>
              </a:rPr>
              <a:t>fewer, better alerts: 74% precision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65759" y="5029200"/>
            <a:ext cx="2240280" cy="868680"/>
          </a:xfrm>
          <a:prstGeom prst="roundRect">
            <a:avLst>
              <a:gd name="adj" fmla="val 12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i="0">
                <a:solidFill>
                  <a:srgbClr val="1F3864"/>
                </a:solidFill>
                <a:latin typeface="Arial"/>
              </a:rPr>
              <a:t>Critical infrastructure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Arial"/>
              </a:rPr>
              <a:t>power · telecom · banking: act before impact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291839" y="5029200"/>
            <a:ext cx="2240280" cy="868680"/>
          </a:xfrm>
          <a:prstGeom prst="roundRect">
            <a:avLst>
              <a:gd name="adj" fmla="val 12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 i="0">
                <a:solidFill>
                  <a:srgbClr val="1F3864"/>
                </a:solidFill>
                <a:latin typeface="Arial"/>
              </a:rPr>
              <a:t>Researchers &amp; students</a:t>
            </a:r>
          </a:p>
          <a:p>
            <a:pPr algn="ctr"/>
            <a:r>
              <a:rPr sz="900" b="0" i="0">
                <a:solidFill>
                  <a:srgbClr val="1A1A1A"/>
                </a:solidFill>
                <a:latin typeface="Arial"/>
              </a:rPr>
              <a:t>open code, 5 public datasets, reproducible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355080" y="111556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7722"/>
                </a:solidFill>
                <a:latin typeface="Arial"/>
              </a:rPr>
              <a:t>▸ </a:t>
            </a:r>
            <a:r>
              <a:rPr sz="1300" b="1" i="0">
                <a:solidFill>
                  <a:srgbClr val="1F3864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6355080" y="1444752"/>
            <a:ext cx="2642616" cy="82296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l"/>
            <a:r>
              <a:rPr sz="1100" b="1" i="0">
                <a:solidFill>
                  <a:srgbClr val="2E8B57"/>
                </a:solidFill>
                <a:latin typeface="Arial"/>
              </a:rPr>
              <a:t>Social</a:t>
            </a:r>
          </a:p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protects hospitals, utilities &amp; citizens' services before disruption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9180576" y="1444752"/>
            <a:ext cx="2642616" cy="82296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l"/>
            <a:r>
              <a:rPr sz="1100" b="1" i="0">
                <a:solidFill>
                  <a:srgbClr val="E87722"/>
                </a:solidFill>
                <a:latin typeface="Arial"/>
              </a:rPr>
              <a:t>Economic</a:t>
            </a:r>
          </a:p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7.5× fewer false warnings than our v1.0 → less analyst fatigue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355080" y="2377440"/>
            <a:ext cx="2642616" cy="82296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l"/>
            <a:r>
              <a:rPr sz="1100" b="1" i="0">
                <a:solidFill>
                  <a:srgbClr val="1F3864"/>
                </a:solidFill>
                <a:latin typeface="Arial"/>
              </a:rPr>
              <a:t>Strategic</a:t>
            </a:r>
          </a:p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self-hosted, open source: no traffic leaves the country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9180576" y="2377440"/>
            <a:ext cx="2642616" cy="82296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l"/>
            <a:r>
              <a:rPr sz="1100" b="1" i="0">
                <a:solidFill>
                  <a:srgbClr val="0070C0"/>
                </a:solidFill>
                <a:latin typeface="Arial"/>
              </a:rPr>
              <a:t>Environmental</a:t>
            </a:r>
          </a:p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CPU-only NumPy inference, no GPU fleet needed</a:t>
            </a:r>
          </a:p>
        </p:txBody>
      </p:sp>
      <p:graphicFrame>
        <p:nvGraphicFramePr>
          <p:cNvPr id="17425" name="Chart 17424"/>
          <p:cNvGraphicFramePr>
            <a:graphicFrameLocks noGrp="1"/>
          </p:cNvGraphicFramePr>
          <p:nvPr/>
        </p:nvGraphicFramePr>
        <p:xfrm>
          <a:off x="6355080" y="3401568"/>
          <a:ext cx="5468112" cy="2871216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 wrap="none"/>
          <a:lstStyle/>
          <a:p>
            <a:pPr algn="ctr"/>
            <a:r>
              <a:rPr lang="en-US" dirty="0" b="1" sz="1100"/>
              <a:t>RoadPulse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15568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7722"/>
                </a:solidFill>
                <a:latin typeface="Arial"/>
              </a:rPr>
              <a:t>▸ </a:t>
            </a:r>
            <a:r>
              <a:rPr sz="1300" b="1" i="0">
                <a:solidFill>
                  <a:srgbClr val="1F3864"/>
                </a:solidFill>
                <a:latin typeface="Arial"/>
              </a:rPr>
              <a:t>Details / Links of the reference and research work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365760" y="1463040"/>
          <a:ext cx="58521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051560"/>
                <a:gridCol w="109728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Dataset (all public)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Used for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Host-minutes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Early-warning AUROC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CIC-IDS2017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train + test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34,356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0.873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UNSW-NB15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train + test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41,300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0.997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CTU-13 (8 botnet scenarios)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train + test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59,893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0.852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CSE-CIC-IDS2018 (20-Feb)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unseen test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332,640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C0392B"/>
                          </a:solidFill>
                          <a:latin typeface="Arial"/>
                        </a:rPr>
                        <a:t>0.954*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DARPA 2000 LLDOS (raw PCAP)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unseen test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5,655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C0392B"/>
                          </a:solidFill>
                          <a:latin typeface="Arial"/>
                        </a:rPr>
                        <a:t>0.484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MITRE ATT&amp;CK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stage taxonomy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2" name="TextBox 17411"/>
          <p:cNvSpPr txBox="1"/>
          <p:nvPr/>
        </p:nvSpPr>
        <p:spPr>
          <a:xfrm>
            <a:off x="365760" y="3502152"/>
            <a:ext cx="5852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595959"/>
                </a:solidFill>
                <a:latin typeface="Arial"/>
              </a:rPr>
              <a:t>18.9 M flows → 473,844 host-minutes. Red = network never seen in training: the honest edge case. *IDS2018 AUROC is high but AUPRC only 0.12 (80 attack minutes in 332,640); on DARPA 2000 the model is at chance.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595959"/>
                </a:solidFill>
                <a:latin typeface="Arial"/>
              </a:rPr>
              <a:t>Reviewed, not used: CICIoT2023 (no timestamps/IPs), LANL (access-restricted, auth logs), CAPEC &amp; CVE/NVD (no traffic; future enrichment).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65760" y="4343400"/>
            <a:ext cx="5852160" cy="19202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502920" y="4389120"/>
            <a:ext cx="5577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Arial"/>
              </a:rPr>
              <a:t>What we built on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02920" y="4681728"/>
            <a:ext cx="269748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50" b="1" i="0">
                <a:solidFill>
                  <a:srgbClr val="1F3864"/>
                </a:solidFill>
                <a:latin typeface="Arial"/>
              </a:rPr>
              <a:t>World Models [1] · PlaNet [2]</a:t>
            </a:r>
          </a:p>
          <a:p>
            <a:pPr algn="ctr"/>
            <a:r>
              <a:rPr sz="850" b="0" i="0">
                <a:solidFill>
                  <a:srgbClr val="595959"/>
                </a:solidFill>
                <a:latin typeface="Arial"/>
              </a:rPr>
              <a:t>latent dynamics + imagination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383280" y="4681728"/>
            <a:ext cx="269748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50" b="1" i="0">
                <a:solidFill>
                  <a:srgbClr val="1F3864"/>
                </a:solidFill>
                <a:latin typeface="Arial"/>
              </a:rPr>
              <a:t>GRU [3] · Deep ensembles [4]</a:t>
            </a:r>
          </a:p>
          <a:p>
            <a:pPr algn="ctr"/>
            <a:r>
              <a:rPr sz="850" b="0" i="0">
                <a:solidFill>
                  <a:srgbClr val="595959"/>
                </a:solidFill>
                <a:latin typeface="Arial"/>
              </a:rPr>
              <a:t>sequence encoder + uncertainty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502920" y="5394960"/>
            <a:ext cx="269748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50" b="1" i="0">
                <a:solidFill>
                  <a:srgbClr val="1F3864"/>
                </a:solidFill>
                <a:latin typeface="Arial"/>
              </a:rPr>
              <a:t>Kill Chain [9] · ATT&amp;CK [10]</a:t>
            </a:r>
          </a:p>
          <a:p>
            <a:pPr algn="ctr"/>
            <a:r>
              <a:rPr sz="850" b="0" i="0">
                <a:solidFill>
                  <a:srgbClr val="595959"/>
                </a:solidFill>
                <a:latin typeface="Arial"/>
              </a:rPr>
              <a:t>attack-stage vocabulary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383280" y="5394960"/>
            <a:ext cx="269748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50" b="1" i="0">
                <a:solidFill>
                  <a:srgbClr val="1F3864"/>
                </a:solidFill>
                <a:latin typeface="Arial"/>
              </a:rPr>
              <a:t>Calibration [11] · Blocked CV [12]</a:t>
            </a:r>
          </a:p>
          <a:p>
            <a:pPr algn="ctr"/>
            <a:r>
              <a:rPr sz="850" b="0" i="0">
                <a:solidFill>
                  <a:srgbClr val="595959"/>
                </a:solidFill>
                <a:latin typeface="Arial"/>
              </a:rPr>
              <a:t>trustworthy, leak-free evaluation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6492240" y="1463040"/>
            <a:ext cx="5349240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900" b="1" i="0">
                <a:solidFill>
                  <a:srgbClr val="0070C0"/>
                </a:solidFill>
                <a:latin typeface="Arial"/>
              </a:rPr>
              <a:t>[1] </a:t>
            </a:r>
            <a:r>
              <a:rPr sz="900" b="0" i="0">
                <a:solidFill>
                  <a:srgbClr val="1A1A1A"/>
                </a:solidFill>
                <a:latin typeface="Arial"/>
              </a:rPr>
              <a:t>Ha &amp; Schmidhuber, “World Models”, 2018. arxiv.org/abs/1803.10122</a:t>
            </a:r>
          </a:p>
          <a:p>
            <a:pPr algn="l">
              <a:spcAft>
                <a:spcPts val="450"/>
              </a:spcAft>
            </a:pPr>
            <a:r>
              <a:rPr sz="900" b="1" i="0">
                <a:solidFill>
                  <a:srgbClr val="0070C0"/>
                </a:solidFill>
                <a:latin typeface="Arial"/>
              </a:rPr>
              <a:t>[2] </a:t>
            </a:r>
            <a:r>
              <a:rPr sz="900" b="0" i="0">
                <a:solidFill>
                  <a:srgbClr val="1A1A1A"/>
                </a:solidFill>
                <a:latin typeface="Arial"/>
              </a:rPr>
              <a:t>Hafner et al., “Learning Latent Dynamics for Planning from Pixels” (PlaNet), ICML 2019</a:t>
            </a:r>
          </a:p>
          <a:p>
            <a:pPr algn="l">
              <a:spcAft>
                <a:spcPts val="450"/>
              </a:spcAft>
            </a:pPr>
            <a:r>
              <a:rPr sz="900" b="1" i="0">
                <a:solidFill>
                  <a:srgbClr val="0070C0"/>
                </a:solidFill>
                <a:latin typeface="Arial"/>
              </a:rPr>
              <a:t>[3] </a:t>
            </a:r>
            <a:r>
              <a:rPr sz="900" b="0" i="0">
                <a:solidFill>
                  <a:srgbClr val="1A1A1A"/>
                </a:solidFill>
                <a:latin typeface="Arial"/>
              </a:rPr>
              <a:t>Cho et al., “Learning Phrase Representations using RNN Encoder–Decoder”, EMNLP 2014</a:t>
            </a:r>
          </a:p>
          <a:p>
            <a:pPr algn="l">
              <a:spcAft>
                <a:spcPts val="450"/>
              </a:spcAft>
            </a:pPr>
            <a:r>
              <a:rPr sz="900" b="1" i="0">
                <a:solidFill>
                  <a:srgbClr val="0070C0"/>
                </a:solidFill>
                <a:latin typeface="Arial"/>
              </a:rPr>
              <a:t>[4] </a:t>
            </a:r>
            <a:r>
              <a:rPr sz="900" b="0" i="0">
                <a:solidFill>
                  <a:srgbClr val="1A1A1A"/>
                </a:solidFill>
                <a:latin typeface="Arial"/>
              </a:rPr>
              <a:t>Lakshminarayanan et al., “Simple and Scalable Predictive Uncertainty… Deep Ensembles”, NeurIPS 2017</a:t>
            </a:r>
          </a:p>
          <a:p>
            <a:pPr algn="l">
              <a:spcAft>
                <a:spcPts val="450"/>
              </a:spcAft>
            </a:pPr>
            <a:r>
              <a:rPr sz="900" b="1" i="0">
                <a:solidFill>
                  <a:srgbClr val="0070C0"/>
                </a:solidFill>
                <a:latin typeface="Arial"/>
              </a:rPr>
              <a:t>[5] </a:t>
            </a:r>
            <a:r>
              <a:rPr sz="900" b="0" i="0">
                <a:solidFill>
                  <a:srgbClr val="1A1A1A"/>
                </a:solidFill>
                <a:latin typeface="Arial"/>
              </a:rPr>
              <a:t>Sharafaldin et al., “Toward Generating a New IDS Dataset” (CIC-IDS2017/2018), ICISSP 2018. unb.ca/cic/datasets</a:t>
            </a:r>
          </a:p>
          <a:p>
            <a:pPr algn="l">
              <a:spcAft>
                <a:spcPts val="450"/>
              </a:spcAft>
            </a:pPr>
            <a:r>
              <a:rPr sz="900" b="1" i="0">
                <a:solidFill>
                  <a:srgbClr val="0070C0"/>
                </a:solidFill>
                <a:latin typeface="Arial"/>
              </a:rPr>
              <a:t>[6] </a:t>
            </a:r>
            <a:r>
              <a:rPr sz="900" b="0" i="0">
                <a:solidFill>
                  <a:srgbClr val="1A1A1A"/>
                </a:solidFill>
                <a:latin typeface="Arial"/>
              </a:rPr>
              <a:t>Moustafa &amp; Slay, “UNSW-NB15: a comprehensive data set”, MilCIS 2015. research.unsw.edu.au/projects/unsw-nb15-dataset</a:t>
            </a:r>
          </a:p>
          <a:p>
            <a:pPr algn="l">
              <a:spcAft>
                <a:spcPts val="450"/>
              </a:spcAft>
            </a:pPr>
            <a:r>
              <a:rPr sz="900" b="1" i="0">
                <a:solidFill>
                  <a:srgbClr val="0070C0"/>
                </a:solidFill>
                <a:latin typeface="Arial"/>
              </a:rPr>
              <a:t>[7] </a:t>
            </a:r>
            <a:r>
              <a:rPr sz="900" b="0" i="0">
                <a:solidFill>
                  <a:srgbClr val="1A1A1A"/>
                </a:solidFill>
                <a:latin typeface="Arial"/>
              </a:rPr>
              <a:t>García et al., “An empirical comparison of botnet detection methods” (CTU-13), Computers &amp; Security 2014</a:t>
            </a:r>
          </a:p>
          <a:p>
            <a:pPr algn="l">
              <a:spcAft>
                <a:spcPts val="450"/>
              </a:spcAft>
            </a:pPr>
            <a:r>
              <a:rPr sz="900" b="1" i="0">
                <a:solidFill>
                  <a:srgbClr val="0070C0"/>
                </a:solidFill>
                <a:latin typeface="Arial"/>
              </a:rPr>
              <a:t>[8] </a:t>
            </a:r>
            <a:r>
              <a:rPr sz="900" b="0" i="0">
                <a:solidFill>
                  <a:srgbClr val="1A1A1A"/>
                </a:solidFill>
                <a:latin typeface="Arial"/>
              </a:rPr>
              <a:t>MIT Lincoln Laboratory, DARPA 2000 Intrusion Detection Scenario (LLDOS 1.0). ll.mit.edu</a:t>
            </a:r>
          </a:p>
          <a:p>
            <a:pPr algn="l">
              <a:spcAft>
                <a:spcPts val="450"/>
              </a:spcAft>
            </a:pPr>
            <a:r>
              <a:rPr sz="900" b="1" i="0">
                <a:solidFill>
                  <a:srgbClr val="0070C0"/>
                </a:solidFill>
                <a:latin typeface="Arial"/>
              </a:rPr>
              <a:t>[9] </a:t>
            </a:r>
            <a:r>
              <a:rPr sz="900" b="0" i="0">
                <a:solidFill>
                  <a:srgbClr val="1A1A1A"/>
                </a:solidFill>
                <a:latin typeface="Arial"/>
              </a:rPr>
              <a:t>Hutchins, Cloppert &amp; Amin, “Intelligence-Driven Computer Network Defense” (Kill Chain), 2011</a:t>
            </a:r>
          </a:p>
          <a:p>
            <a:pPr algn="l">
              <a:spcAft>
                <a:spcPts val="450"/>
              </a:spcAft>
            </a:pPr>
            <a:r>
              <a:rPr sz="900" b="1" i="0">
                <a:solidFill>
                  <a:srgbClr val="0070C0"/>
                </a:solidFill>
                <a:latin typeface="Arial"/>
              </a:rPr>
              <a:t>[10] </a:t>
            </a:r>
            <a:r>
              <a:rPr sz="900" b="0" i="0">
                <a:solidFill>
                  <a:srgbClr val="1A1A1A"/>
                </a:solidFill>
                <a:latin typeface="Arial"/>
              </a:rPr>
              <a:t>MITRE ATT&amp;CK Enterprise tactics. attack.mitre.org</a:t>
            </a:r>
          </a:p>
          <a:p>
            <a:pPr algn="l">
              <a:spcAft>
                <a:spcPts val="450"/>
              </a:spcAft>
            </a:pPr>
            <a:r>
              <a:rPr sz="900" b="1" i="0">
                <a:solidFill>
                  <a:srgbClr val="0070C0"/>
                </a:solidFill>
                <a:latin typeface="Arial"/>
              </a:rPr>
              <a:t>[11] </a:t>
            </a:r>
            <a:r>
              <a:rPr sz="900" b="0" i="0">
                <a:solidFill>
                  <a:srgbClr val="1A1A1A"/>
                </a:solidFill>
                <a:latin typeface="Arial"/>
              </a:rPr>
              <a:t>Guo et al., “On Calibration of Modern Neural Networks”, ICML 2017</a:t>
            </a:r>
          </a:p>
          <a:p>
            <a:pPr algn="l">
              <a:spcAft>
                <a:spcPts val="450"/>
              </a:spcAft>
            </a:pPr>
            <a:r>
              <a:rPr sz="900" b="1" i="0">
                <a:solidFill>
                  <a:srgbClr val="0070C0"/>
                </a:solidFill>
                <a:latin typeface="Arial"/>
              </a:rPr>
              <a:t>[12] </a:t>
            </a:r>
            <a:r>
              <a:rPr sz="900" b="0" i="0">
                <a:solidFill>
                  <a:srgbClr val="1A1A1A"/>
                </a:solidFill>
                <a:latin typeface="Arial"/>
              </a:rPr>
              <a:t>Bergmeir &amp; Benítez, “On the use of cross-validation for time series predictor evaluation”, Inf. Sci. 2012</a:t>
            </a:r>
          </a:p>
          <a:p>
            <a:pPr algn="l">
              <a:spcAft>
                <a:spcPts val="450"/>
              </a:spcAft>
            </a:pPr>
            <a:r>
              <a:rPr sz="900" b="1" i="0">
                <a:solidFill>
                  <a:srgbClr val="0070C0"/>
                </a:solidFill>
                <a:latin typeface="Arial"/>
              </a:rPr>
              <a:t>[13] </a:t>
            </a:r>
            <a:r>
              <a:rPr sz="900" b="0" i="0">
                <a:solidFill>
                  <a:srgbClr val="1A1A1A"/>
                </a:solidFill>
                <a:latin typeface="Arial"/>
              </a:rPr>
              <a:t>Chen &amp; Guestrin, “XGBoost: A Scalable Tree Boosting System”, KDD 2016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492240" y="5833872"/>
            <a:ext cx="5330952" cy="438912"/>
          </a:xfrm>
          <a:prstGeom prst="roundRect">
            <a:avLst>
              <a:gd name="adj" fmla="val 3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Code, models &amp; all metrics:  </a:t>
            </a:r>
            <a:r>
              <a:rPr sz="1100" b="1" i="0">
                <a:solidFill>
                  <a:srgbClr val="FFFFFF"/>
                </a:solidFill>
                <a:latin typeface="Arial"/>
              </a:rPr>
              <a:t>github.com/Yash6163/AEGIS.AI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